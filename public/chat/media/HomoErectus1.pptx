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A6FF"/>
    <a:srgbClr val="006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10.09.2025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1309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10.09.2025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5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10.09.2025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728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10.09.2025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610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10.09.2025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7578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10.09.2025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498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10.09.2025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379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10.09.2025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4307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10.09.2025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8859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10.09.2025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718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10.09.2025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787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A43DF-04A3-4662-88CA-28FDED1CFC09}" type="datetimeFigureOut">
              <a:rPr lang="cs-CZ" smtClean="0"/>
              <a:t>10.09.2025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425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omo erectus byl zcestovalý námořník, který uměl mluvit. Nešlo o hloupou  opici, tvrdí americký vědec - Aktuálně.cz">
            <a:extLst>
              <a:ext uri="{FF2B5EF4-FFF2-40B4-BE49-F238E27FC236}">
                <a16:creationId xmlns:a16="http://schemas.microsoft.com/office/drawing/2014/main" id="{82DC9535-8B0F-60A9-1DC5-D62CBF76A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0" y="-5608"/>
            <a:ext cx="12291991" cy="695597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BA43B4-14E8-F53A-1874-ED15ABA03915}"/>
              </a:ext>
            </a:extLst>
          </p:cNvPr>
          <p:cNvSpPr/>
          <p:nvPr/>
        </p:nvSpPr>
        <p:spPr>
          <a:xfrm>
            <a:off x="1918607" y="1510393"/>
            <a:ext cx="8259535" cy="4301505"/>
          </a:xfrm>
          <a:prstGeom prst="roundRect">
            <a:avLst/>
          </a:prstGeom>
          <a:solidFill>
            <a:srgbClr val="FFFFFF">
              <a:alpha val="4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29257D-5E30-F4DB-B86D-E1BB6027A815}"/>
              </a:ext>
            </a:extLst>
          </p:cNvPr>
          <p:cNvSpPr txBox="1"/>
          <p:nvPr/>
        </p:nvSpPr>
        <p:spPr>
          <a:xfrm>
            <a:off x="2081892" y="3614057"/>
            <a:ext cx="868135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err="1"/>
              <a:t>Člověk</a:t>
            </a:r>
            <a:r>
              <a:rPr lang="en-US" sz="4000" dirty="0"/>
              <a:t> </a:t>
            </a:r>
            <a:r>
              <a:rPr lang="en-US" sz="4000" err="1"/>
              <a:t>vzpřímený</a:t>
            </a:r>
            <a:endParaRPr lang="en-US" sz="400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4855214"/>
            <a:ext cx="9144000" cy="14017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Adam Zábran, Petr </a:t>
            </a:r>
            <a:r>
              <a:rPr lang="cs-CZ" dirty="0" err="1"/>
              <a:t>Kuták</a:t>
            </a:r>
            <a:r>
              <a:rPr lang="cs-CZ" dirty="0"/>
              <a:t>, Jonáš Velkoborský, Jakub Patera</a:t>
            </a:r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036267"/>
            <a:ext cx="9144000" cy="2387600"/>
          </a:xfrm>
        </p:spPr>
        <p:txBody>
          <a:bodyPr/>
          <a:lstStyle/>
          <a:p>
            <a:r>
              <a:rPr lang="cs-CZ" sz="9600" dirty="0"/>
              <a:t>Homo </a:t>
            </a:r>
            <a:r>
              <a:rPr lang="cs-CZ" sz="9600" err="1"/>
              <a:t>erectus</a:t>
            </a:r>
            <a:endParaRPr lang="cs-CZ" sz="9600"/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34516-602F-6AE2-4799-BF2C51532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500744"/>
            <a:ext cx="5345082" cy="170824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6600" err="1"/>
              <a:t>Obecné</a:t>
            </a:r>
            <a:r>
              <a:rPr lang="en-US" sz="6600" dirty="0"/>
              <a:t> </a:t>
            </a:r>
            <a:r>
              <a:rPr lang="en-US" sz="6600" err="1"/>
              <a:t>informace</a:t>
            </a:r>
            <a:endParaRPr lang="en-US" sz="6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5DE6C-52AC-D3F5-BF1B-E5241F8A0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170911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Homo erectus (</a:t>
            </a:r>
            <a:r>
              <a:rPr lang="en-US" sz="2400" dirty="0" err="1">
                <a:ea typeface="+mn-lt"/>
                <a:cs typeface="+mn-lt"/>
              </a:rPr>
              <a:t>člověk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vzpřímený</a:t>
            </a:r>
            <a:r>
              <a:rPr lang="en-US" sz="2400" dirty="0">
                <a:ea typeface="+mn-lt"/>
                <a:cs typeface="+mn-lt"/>
              </a:rPr>
              <a:t>) </a:t>
            </a:r>
            <a:r>
              <a:rPr lang="en-US" sz="2400" dirty="0" err="1">
                <a:ea typeface="+mn-lt"/>
                <a:cs typeface="+mn-lt"/>
              </a:rPr>
              <a:t>žil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zhruba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před</a:t>
            </a:r>
            <a:r>
              <a:rPr lang="en-US" sz="2400" dirty="0">
                <a:ea typeface="+mn-lt"/>
                <a:cs typeface="+mn-lt"/>
              </a:rPr>
              <a:t> 1,8 </a:t>
            </a:r>
            <a:r>
              <a:rPr lang="en-US" sz="2400" dirty="0" err="1">
                <a:ea typeface="+mn-lt"/>
                <a:cs typeface="+mn-lt"/>
              </a:rPr>
              <a:t>milionu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až</a:t>
            </a:r>
            <a:r>
              <a:rPr lang="en-US" sz="2400" dirty="0">
                <a:ea typeface="+mn-lt"/>
                <a:cs typeface="+mn-lt"/>
              </a:rPr>
              <a:t> 50 </a:t>
            </a:r>
            <a:r>
              <a:rPr lang="en-US" sz="2400" dirty="0" err="1">
                <a:ea typeface="+mn-lt"/>
                <a:cs typeface="+mn-lt"/>
              </a:rPr>
              <a:t>tisíci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lety</a:t>
            </a:r>
            <a:endParaRPr lang="en-US" sz="24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 err="1"/>
              <a:t>Vyskytoval</a:t>
            </a:r>
            <a:r>
              <a:rPr lang="en-US" sz="2400" dirty="0"/>
              <a:t> se v </a:t>
            </a:r>
            <a:r>
              <a:rPr lang="en-US" sz="2400" err="1"/>
              <a:t>Africe</a:t>
            </a:r>
            <a:r>
              <a:rPr lang="en-US" sz="2400" dirty="0"/>
              <a:t>, </a:t>
            </a:r>
            <a:r>
              <a:rPr lang="en-US" sz="2400" err="1"/>
              <a:t>Asii</a:t>
            </a:r>
            <a:r>
              <a:rPr lang="en-US" sz="2400" dirty="0"/>
              <a:t> a </a:t>
            </a:r>
            <a:r>
              <a:rPr lang="en-US" sz="2400" err="1"/>
              <a:t>Evropě</a:t>
            </a:r>
            <a:endParaRPr lang="en-US" sz="2400"/>
          </a:p>
          <a:p>
            <a:pPr>
              <a:buFont typeface="Arial"/>
              <a:buChar char="•"/>
            </a:pPr>
            <a:r>
              <a:rPr lang="en-US" sz="2400" err="1">
                <a:ea typeface="+mn-lt"/>
                <a:cs typeface="+mn-lt"/>
              </a:rPr>
              <a:t>Měl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štíhlou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robustní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postavu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vysokou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mezi</a:t>
            </a:r>
            <a:r>
              <a:rPr lang="en-US" sz="2400" dirty="0">
                <a:ea typeface="+mn-lt"/>
                <a:cs typeface="+mn-lt"/>
              </a:rPr>
              <a:t> 145 </a:t>
            </a:r>
            <a:r>
              <a:rPr lang="en-US" sz="2400" err="1">
                <a:ea typeface="+mn-lt"/>
                <a:cs typeface="+mn-lt"/>
              </a:rPr>
              <a:t>až</a:t>
            </a:r>
            <a:r>
              <a:rPr lang="en-US" sz="2400" dirty="0">
                <a:ea typeface="+mn-lt"/>
                <a:cs typeface="+mn-lt"/>
              </a:rPr>
              <a:t> 185 cm, </a:t>
            </a:r>
            <a:r>
              <a:rPr lang="en-US" sz="2400" err="1">
                <a:ea typeface="+mn-lt"/>
                <a:cs typeface="+mn-lt"/>
              </a:rPr>
              <a:t>hmotnost</a:t>
            </a:r>
            <a:r>
              <a:rPr lang="en-US" sz="2400" dirty="0">
                <a:ea typeface="+mn-lt"/>
                <a:cs typeface="+mn-lt"/>
              </a:rPr>
              <a:t> 40 </a:t>
            </a:r>
            <a:r>
              <a:rPr lang="en-US" sz="2400" err="1">
                <a:ea typeface="+mn-lt"/>
                <a:cs typeface="+mn-lt"/>
              </a:rPr>
              <a:t>až</a:t>
            </a:r>
            <a:r>
              <a:rPr lang="en-US" sz="2400" dirty="0">
                <a:ea typeface="+mn-lt"/>
                <a:cs typeface="+mn-lt"/>
              </a:rPr>
              <a:t> 70 kg</a:t>
            </a:r>
            <a:endParaRPr lang="en-US" sz="2400" dirty="0"/>
          </a:p>
          <a:p>
            <a:pPr>
              <a:buFont typeface="Arial"/>
              <a:buChar char="•"/>
            </a:pPr>
            <a:endParaRPr lang="en-US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8DB20A-66E9-4720-266A-8A79B66BD1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7" r="7700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7920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CFE74-1AB1-C19E-B4AF-BF5D92ED4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6591" y="76879"/>
            <a:ext cx="7773605" cy="162877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6600" err="1"/>
              <a:t>Mozek</a:t>
            </a:r>
            <a:r>
              <a:rPr lang="en-US" sz="6600" dirty="0"/>
              <a:t> a </a:t>
            </a:r>
            <a:r>
              <a:rPr lang="en-US" sz="6600" err="1"/>
              <a:t>lebka</a:t>
            </a:r>
            <a:endParaRPr lang="en-US" sz="6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E1E55C-67B5-6DC3-BE78-AB2FD7458C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092" b="1"/>
          <a:stretch>
            <a:fillRect/>
          </a:stretch>
        </p:blipFill>
        <p:spPr>
          <a:xfrm>
            <a:off x="2" y="-88650"/>
            <a:ext cx="6095999" cy="7036886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0F133-5C7F-52ED-F25B-D54A5D410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6591" y="1972355"/>
            <a:ext cx="5411406" cy="456927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 err="1">
                <a:ea typeface="+mn-lt"/>
                <a:cs typeface="+mn-lt"/>
              </a:rPr>
              <a:t>Objem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mozkovny</a:t>
            </a:r>
            <a:r>
              <a:rPr lang="en-US" sz="2400" dirty="0">
                <a:ea typeface="+mn-lt"/>
                <a:cs typeface="+mn-lt"/>
              </a:rPr>
              <a:t> </a:t>
            </a:r>
            <a:r>
              <a:rPr lang="en-US" sz="2400" dirty="0" err="1">
                <a:ea typeface="+mn-lt"/>
                <a:cs typeface="+mn-lt"/>
              </a:rPr>
              <a:t>přibližně</a:t>
            </a:r>
            <a:r>
              <a:rPr lang="en-US" sz="2400" dirty="0">
                <a:ea typeface="+mn-lt"/>
                <a:cs typeface="+mn-lt"/>
              </a:rPr>
              <a:t> 750-1225 cm³</a:t>
            </a:r>
            <a:endParaRPr lang="en-US" sz="2400"/>
          </a:p>
          <a:p>
            <a:r>
              <a:rPr lang="en-US" sz="2400" dirty="0" err="1">
                <a:ea typeface="+mn-lt"/>
                <a:cs typeface="+mn-lt"/>
              </a:rPr>
              <a:t>Lebka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byla</a:t>
            </a:r>
            <a:r>
              <a:rPr lang="en-US" sz="2400" dirty="0">
                <a:ea typeface="+mn-lt"/>
                <a:cs typeface="+mn-lt"/>
              </a:rPr>
              <a:t> </a:t>
            </a:r>
            <a:r>
              <a:rPr lang="en-US" sz="2400" dirty="0" err="1">
                <a:ea typeface="+mn-lt"/>
                <a:cs typeface="+mn-lt"/>
              </a:rPr>
              <a:t>nízká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prodloužená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výrazné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nadočnicové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valy</a:t>
            </a:r>
            <a:endParaRPr lang="en-US" sz="2400" dirty="0">
              <a:ea typeface="+mn-lt"/>
              <a:cs typeface="+mn-lt"/>
            </a:endParaRPr>
          </a:p>
          <a:p>
            <a:r>
              <a:rPr lang="en-US" sz="2400" dirty="0" err="1">
                <a:ea typeface="+mn-lt"/>
                <a:cs typeface="+mn-lt"/>
              </a:rPr>
              <a:t>Mohutný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obličej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široký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nos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silné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čelisti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mozkový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spánek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nebyl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tak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vyvinutý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jako</a:t>
            </a:r>
            <a:r>
              <a:rPr lang="en-US" sz="2400" dirty="0">
                <a:ea typeface="+mn-lt"/>
                <a:cs typeface="+mn-lt"/>
              </a:rPr>
              <a:t> u </a:t>
            </a:r>
            <a:r>
              <a:rPr lang="en-US" sz="2400" dirty="0" err="1">
                <a:ea typeface="+mn-lt"/>
                <a:cs typeface="+mn-lt"/>
              </a:rPr>
              <a:t>moderního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člověka</a:t>
            </a:r>
            <a:endParaRPr lang="en-US" sz="2400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Zuby </a:t>
            </a:r>
            <a:r>
              <a:rPr lang="en-US" sz="2400" dirty="0" err="1">
                <a:ea typeface="+mn-lt"/>
                <a:cs typeface="+mn-lt"/>
              </a:rPr>
              <a:t>většinou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větší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než</a:t>
            </a:r>
            <a:r>
              <a:rPr lang="en-US" sz="2400" dirty="0">
                <a:ea typeface="+mn-lt"/>
                <a:cs typeface="+mn-lt"/>
              </a:rPr>
              <a:t> u </a:t>
            </a:r>
            <a:r>
              <a:rPr lang="en-US" sz="2400" dirty="0" err="1">
                <a:ea typeface="+mn-lt"/>
                <a:cs typeface="+mn-lt"/>
              </a:rPr>
              <a:t>moderních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lidí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postupná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redukce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stoliček</a:t>
            </a:r>
            <a:endParaRPr lang="en-US" sz="2400" dirty="0" err="1"/>
          </a:p>
        </p:txBody>
      </p:sp>
    </p:spTree>
    <p:extLst>
      <p:ext uri="{BB962C8B-B14F-4D97-AF65-F5344CB8AC3E}">
        <p14:creationId xmlns:p14="http://schemas.microsoft.com/office/powerpoint/2010/main" val="211454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6B5637-4CB7-60C0-C303-E9325A0BB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" y="-2392"/>
            <a:ext cx="12284197" cy="6862784"/>
          </a:xfrm>
          <a:prstGeom prst="rect">
            <a:avLst/>
          </a:prstGeom>
          <a:ln>
            <a:solidFill>
              <a:srgbClr val="000000">
                <a:alpha val="68000"/>
              </a:srgbClr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2E816B-FB04-A692-1B2C-D8AEF813095C}"/>
              </a:ext>
            </a:extLst>
          </p:cNvPr>
          <p:cNvSpPr/>
          <p:nvPr/>
        </p:nvSpPr>
        <p:spPr>
          <a:xfrm>
            <a:off x="158248" y="211561"/>
            <a:ext cx="3929002" cy="1088031"/>
          </a:xfrm>
          <a:prstGeom prst="roundRect">
            <a:avLst/>
          </a:prstGeom>
          <a:solidFill>
            <a:srgbClr val="00A6FF">
              <a:alpha val="25000"/>
            </a:srgbClr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26C5F4-C5D9-4ECE-0057-016631C56415}"/>
              </a:ext>
            </a:extLst>
          </p:cNvPr>
          <p:cNvSpPr/>
          <p:nvPr/>
        </p:nvSpPr>
        <p:spPr>
          <a:xfrm>
            <a:off x="158248" y="1423833"/>
            <a:ext cx="3929002" cy="5209758"/>
          </a:xfrm>
          <a:prstGeom prst="roundRect">
            <a:avLst/>
          </a:prstGeom>
          <a:solidFill>
            <a:srgbClr val="00A6F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8BD1B-5023-51E0-A84C-96079ECD8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18" y="1710170"/>
            <a:ext cx="3930733" cy="4928609"/>
          </a:xfrm>
          <a:ln>
            <a:solidFill>
              <a:srgbClr val="FFFFFF">
                <a:alpha val="0"/>
              </a:srgbClr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solidFill>
                  <a:schemeClr val="bg1"/>
                </a:solidFill>
              </a:rPr>
              <a:t>Štíhlá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postava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umožňovala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efektivní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chůzi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err="1">
                <a:solidFill>
                  <a:schemeClr val="bg1"/>
                </a:solidFill>
              </a:rPr>
              <a:t>běh</a:t>
            </a:r>
            <a:endParaRPr lang="en-US">
              <a:solidFill>
                <a:schemeClr val="bg1"/>
              </a:solidFill>
            </a:endParaRPr>
          </a:p>
          <a:p>
            <a:r>
              <a:rPr lang="en-US" err="1">
                <a:solidFill>
                  <a:schemeClr val="bg1"/>
                </a:solidFill>
              </a:rPr>
              <a:t>Muži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byli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zřejmě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větší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než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ženy</a:t>
            </a:r>
            <a:endParaRPr lang="en-US">
              <a:solidFill>
                <a:schemeClr val="bg1"/>
              </a:solidFill>
            </a:endParaRPr>
          </a:p>
          <a:p>
            <a:r>
              <a:rPr lang="en-US" err="1">
                <a:solidFill>
                  <a:schemeClr val="bg1"/>
                </a:solidFill>
              </a:rPr>
              <a:t>Redukce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ochlupení</a:t>
            </a:r>
            <a:endParaRPr lang="en-US">
              <a:solidFill>
                <a:schemeClr val="bg1"/>
              </a:solidFill>
            </a:endParaRPr>
          </a:p>
          <a:p>
            <a:r>
              <a:rPr lang="en-US" err="1">
                <a:solidFill>
                  <a:schemeClr val="bg1"/>
                </a:solidFill>
              </a:rPr>
              <a:t>Zmnožení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potních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žláz</a:t>
            </a:r>
            <a:r>
              <a:rPr lang="en-US" dirty="0">
                <a:solidFill>
                  <a:schemeClr val="bg1"/>
                </a:solidFill>
              </a:rPr>
              <a:t> - </a:t>
            </a:r>
            <a:r>
              <a:rPr lang="en-US" err="1">
                <a:solidFill>
                  <a:schemeClr val="bg1"/>
                </a:solidFill>
              </a:rPr>
              <a:t>vznik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nového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termoregulačního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systému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24EA8C-C517-B7B1-0540-DB990FBE1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370" y="92432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err="1">
                <a:solidFill>
                  <a:schemeClr val="bg1"/>
                </a:solidFill>
              </a:rPr>
              <a:t>Další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err="1">
                <a:solidFill>
                  <a:schemeClr val="bg1"/>
                </a:solidFill>
              </a:rPr>
              <a:t>morfologické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err="1">
                <a:solidFill>
                  <a:schemeClr val="bg1"/>
                </a:solidFill>
              </a:rPr>
              <a:t>znaky</a:t>
            </a:r>
            <a:endParaRPr lang="en-US" sz="2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600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3" grpId="0" build="p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663DEE-6D3A-5AE5-9FEE-C2BD2DEC0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79" y="440869"/>
            <a:ext cx="6002110" cy="1495425"/>
          </a:xfrm>
        </p:spPr>
        <p:txBody>
          <a:bodyPr>
            <a:normAutofit/>
          </a:bodyPr>
          <a:lstStyle/>
          <a:p>
            <a:r>
              <a:rPr lang="en-US" sz="6600" dirty="0" err="1"/>
              <a:t>Způsob</a:t>
            </a:r>
            <a:r>
              <a:rPr lang="en-US" sz="6600" dirty="0"/>
              <a:t> </a:t>
            </a:r>
            <a:r>
              <a:rPr lang="en-US" sz="6600" dirty="0" err="1"/>
              <a:t>života</a:t>
            </a:r>
            <a:endParaRPr lang="en-US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20F09-A020-7E76-86A8-616668F0D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80" y="2056724"/>
            <a:ext cx="6002110" cy="418623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 err="1">
                <a:ea typeface="+mn-lt"/>
                <a:cs typeface="+mn-lt"/>
              </a:rPr>
              <a:t>Používal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oheň</a:t>
            </a:r>
            <a:r>
              <a:rPr lang="en-US" sz="2400" dirty="0">
                <a:ea typeface="+mn-lt"/>
                <a:cs typeface="+mn-lt"/>
              </a:rPr>
              <a:t> a </a:t>
            </a:r>
            <a:r>
              <a:rPr lang="en-US" sz="2400" dirty="0" err="1">
                <a:ea typeface="+mn-lt"/>
                <a:cs typeface="+mn-lt"/>
              </a:rPr>
              <a:t>byl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schopen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lovu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sběru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pravděpodobně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žil</a:t>
            </a:r>
            <a:r>
              <a:rPr lang="en-US" sz="2400" dirty="0">
                <a:ea typeface="+mn-lt"/>
                <a:cs typeface="+mn-lt"/>
              </a:rPr>
              <a:t> v </a:t>
            </a:r>
            <a:r>
              <a:rPr lang="en-US" sz="2400" dirty="0" err="1">
                <a:ea typeface="+mn-lt"/>
                <a:cs typeface="+mn-lt"/>
              </a:rPr>
              <a:t>lovecko-sběračských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tlupách</a:t>
            </a:r>
            <a:endParaRPr lang="en-US" sz="2400" dirty="0" err="1"/>
          </a:p>
          <a:p>
            <a:r>
              <a:rPr lang="en-US" sz="2400" dirty="0">
                <a:ea typeface="+mn-lt"/>
                <a:cs typeface="+mn-lt"/>
              </a:rPr>
              <a:t>Byl to </a:t>
            </a:r>
            <a:r>
              <a:rPr lang="en-US" sz="2400" dirty="0" err="1">
                <a:ea typeface="+mn-lt"/>
                <a:cs typeface="+mn-lt"/>
              </a:rPr>
              <a:t>velmi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dlouhověký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druh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obýval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různé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klimatické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oblasti</a:t>
            </a:r>
            <a:r>
              <a:rPr lang="en-US" sz="2400" dirty="0">
                <a:ea typeface="+mn-lt"/>
                <a:cs typeface="+mn-lt"/>
              </a:rPr>
              <a:t> a </a:t>
            </a:r>
            <a:r>
              <a:rPr lang="en-US" sz="2400" dirty="0" err="1">
                <a:ea typeface="+mn-lt"/>
                <a:cs typeface="+mn-lt"/>
              </a:rPr>
              <a:t>adaptoval</a:t>
            </a:r>
            <a:r>
              <a:rPr lang="en-US" sz="2400" dirty="0">
                <a:ea typeface="+mn-lt"/>
                <a:cs typeface="+mn-lt"/>
              </a:rPr>
              <a:t> se </a:t>
            </a:r>
            <a:r>
              <a:rPr lang="en-US" sz="2400" dirty="0" err="1">
                <a:ea typeface="+mn-lt"/>
                <a:cs typeface="+mn-lt"/>
              </a:rPr>
              <a:t>na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ně</a:t>
            </a:r>
            <a:endParaRPr lang="en-US" sz="2400" dirty="0" err="1"/>
          </a:p>
          <a:p>
            <a:r>
              <a:rPr lang="en-US" sz="2400" dirty="0" err="1">
                <a:ea typeface="+mn-lt"/>
                <a:cs typeface="+mn-lt"/>
              </a:rPr>
              <a:t>Omezená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jazykovou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schopnost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komunikace</a:t>
            </a:r>
            <a:r>
              <a:rPr lang="en-US" sz="2400" dirty="0">
                <a:ea typeface="+mn-lt"/>
                <a:cs typeface="+mn-lt"/>
              </a:rPr>
              <a:t> </a:t>
            </a:r>
            <a:r>
              <a:rPr lang="en-US" sz="2400" dirty="0" err="1">
                <a:ea typeface="+mn-lt"/>
                <a:cs typeface="+mn-lt"/>
              </a:rPr>
              <a:t>hlavně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mimikou</a:t>
            </a:r>
            <a:r>
              <a:rPr lang="en-US" sz="2400" dirty="0">
                <a:ea typeface="+mn-lt"/>
                <a:cs typeface="+mn-lt"/>
              </a:rPr>
              <a:t> a </a:t>
            </a:r>
            <a:r>
              <a:rPr lang="en-US" sz="2400" dirty="0" err="1">
                <a:ea typeface="+mn-lt"/>
                <a:cs typeface="+mn-lt"/>
              </a:rPr>
              <a:t>gesty</a:t>
            </a:r>
            <a:endParaRPr lang="en-US" sz="2400" dirty="0">
              <a:ea typeface="+mn-lt"/>
              <a:cs typeface="+mn-lt"/>
            </a:endParaRPr>
          </a:p>
          <a:p>
            <a:r>
              <a:rPr lang="en-US" sz="2400" dirty="0" err="1">
                <a:ea typeface="+mn-lt"/>
                <a:cs typeface="+mn-lt"/>
              </a:rPr>
              <a:t>První</a:t>
            </a:r>
            <a:r>
              <a:rPr lang="en-US" sz="2400" dirty="0">
                <a:ea typeface="+mn-lt"/>
                <a:cs typeface="+mn-lt"/>
              </a:rPr>
              <a:t> hominid, </a:t>
            </a:r>
            <a:r>
              <a:rPr lang="en-US" sz="2400" dirty="0" err="1">
                <a:ea typeface="+mn-lt"/>
                <a:cs typeface="+mn-lt"/>
              </a:rPr>
              <a:t>který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systematicky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vyráběl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kamenné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nástroje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acheulské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kultury</a:t>
            </a:r>
            <a:r>
              <a:rPr lang="en-US" sz="2400" dirty="0">
                <a:ea typeface="+mn-lt"/>
                <a:cs typeface="+mn-lt"/>
              </a:rPr>
              <a:t> (</a:t>
            </a:r>
            <a:r>
              <a:rPr lang="en-US" sz="2400" dirty="0" err="1">
                <a:ea typeface="+mn-lt"/>
                <a:cs typeface="+mn-lt"/>
              </a:rPr>
              <a:t>např</a:t>
            </a:r>
            <a:r>
              <a:rPr lang="en-US" sz="2400" dirty="0">
                <a:ea typeface="+mn-lt"/>
                <a:cs typeface="+mn-lt"/>
              </a:rPr>
              <a:t>. </a:t>
            </a:r>
            <a:r>
              <a:rPr lang="en-US" sz="2400" dirty="0" err="1">
                <a:ea typeface="+mn-lt"/>
                <a:cs typeface="+mn-lt"/>
              </a:rPr>
              <a:t>pěstní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klíny</a:t>
            </a:r>
            <a:r>
              <a:rPr lang="en-US" sz="2400" dirty="0">
                <a:ea typeface="+mn-lt"/>
                <a:cs typeface="+mn-lt"/>
              </a:rPr>
              <a:t>)</a:t>
            </a:r>
            <a:endParaRPr lang="en-US" sz="2400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D0BB246C-528D-1781-028A-A720A580B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116" y="-166170"/>
            <a:ext cx="5542556" cy="739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439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7F2848-FD52-A71D-8354-8C0463144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466" y="609600"/>
            <a:ext cx="4140014" cy="1330839"/>
          </a:xfrm>
        </p:spPr>
        <p:txBody>
          <a:bodyPr>
            <a:normAutofit/>
          </a:bodyPr>
          <a:lstStyle/>
          <a:p>
            <a:r>
              <a:rPr lang="en-US" sz="3700" err="1"/>
              <a:t>Naleziště</a:t>
            </a:r>
            <a:r>
              <a:rPr lang="en-US" sz="3700"/>
              <a:t> </a:t>
            </a:r>
            <a:r>
              <a:rPr lang="en-US" sz="3700" err="1"/>
              <a:t>kosterních</a:t>
            </a:r>
            <a:r>
              <a:rPr lang="en-US" sz="3700"/>
              <a:t> </a:t>
            </a:r>
            <a:r>
              <a:rPr lang="en-US" sz="3700" err="1"/>
              <a:t>pozůstatků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F614A-B4B3-063D-D965-E70719FDA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465" y="2194102"/>
            <a:ext cx="4140013" cy="3908586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sz="2400" err="1">
                <a:ea typeface="+mn-lt"/>
                <a:cs typeface="+mn-lt"/>
              </a:rPr>
              <a:t>První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fosilie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byly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objeveny</a:t>
            </a:r>
            <a:r>
              <a:rPr lang="en-US" sz="2400" dirty="0">
                <a:ea typeface="+mn-lt"/>
                <a:cs typeface="+mn-lt"/>
              </a:rPr>
              <a:t> v </a:t>
            </a:r>
            <a:r>
              <a:rPr lang="en-US" sz="2400" err="1">
                <a:ea typeface="+mn-lt"/>
                <a:cs typeface="+mn-lt"/>
              </a:rPr>
              <a:t>Indonésii</a:t>
            </a:r>
            <a:r>
              <a:rPr lang="en-US" sz="2400" dirty="0">
                <a:ea typeface="+mn-lt"/>
                <a:cs typeface="+mn-lt"/>
              </a:rPr>
              <a:t> Eugène </a:t>
            </a:r>
            <a:r>
              <a:rPr lang="en-US" sz="2400" err="1">
                <a:ea typeface="+mn-lt"/>
                <a:cs typeface="+mn-lt"/>
              </a:rPr>
              <a:t>Duboisem</a:t>
            </a:r>
            <a:r>
              <a:rPr lang="en-US" sz="2400" dirty="0">
                <a:ea typeface="+mn-lt"/>
                <a:cs typeface="+mn-lt"/>
              </a:rPr>
              <a:t> v </a:t>
            </a:r>
            <a:r>
              <a:rPr lang="en-US" sz="2400" err="1">
                <a:ea typeface="+mn-lt"/>
                <a:cs typeface="+mn-lt"/>
              </a:rPr>
              <a:t>roce</a:t>
            </a:r>
            <a:r>
              <a:rPr lang="en-US" sz="2400" dirty="0">
                <a:ea typeface="+mn-lt"/>
                <a:cs typeface="+mn-lt"/>
              </a:rPr>
              <a:t> 1891</a:t>
            </a:r>
            <a:endParaRPr lang="en-US" sz="2400" dirty="0"/>
          </a:p>
          <a:p>
            <a:r>
              <a:rPr lang="en-US" sz="2400" dirty="0"/>
              <a:t>Asie: Sangiran, </a:t>
            </a:r>
            <a:r>
              <a:rPr lang="en-US" sz="2400" dirty="0" err="1"/>
              <a:t>Trinil</a:t>
            </a:r>
            <a:r>
              <a:rPr lang="en-US" sz="2400" dirty="0"/>
              <a:t> (</a:t>
            </a:r>
            <a:r>
              <a:rPr lang="en-US" sz="2400" dirty="0" err="1"/>
              <a:t>Indonésie</a:t>
            </a:r>
            <a:r>
              <a:rPr lang="en-US" sz="2400" dirty="0"/>
              <a:t>), </a:t>
            </a:r>
            <a:r>
              <a:rPr lang="en-US" sz="2400" dirty="0" err="1"/>
              <a:t>Čou</a:t>
            </a:r>
            <a:r>
              <a:rPr lang="en-US" sz="2400" dirty="0"/>
              <a:t>-</a:t>
            </a:r>
            <a:r>
              <a:rPr lang="en-US" sz="2400" dirty="0" err="1"/>
              <a:t>Kchou</a:t>
            </a:r>
            <a:r>
              <a:rPr lang="en-US" sz="2400" dirty="0"/>
              <a:t>-Tijen (</a:t>
            </a:r>
            <a:r>
              <a:rPr lang="en-US" sz="2400" dirty="0" err="1"/>
              <a:t>Čína</a:t>
            </a:r>
            <a:r>
              <a:rPr lang="en-US" sz="2400" dirty="0"/>
              <a:t>)</a:t>
            </a:r>
            <a:endParaRPr lang="en-US"/>
          </a:p>
          <a:p>
            <a:r>
              <a:rPr lang="en-US" sz="2400" dirty="0"/>
              <a:t>Afrika: </a:t>
            </a:r>
            <a:r>
              <a:rPr lang="en-US" sz="2400" err="1"/>
              <a:t>Buia</a:t>
            </a:r>
            <a:r>
              <a:rPr lang="en-US" sz="2400" dirty="0"/>
              <a:t> (Eritrea), Bouri (</a:t>
            </a:r>
            <a:r>
              <a:rPr lang="en-US" sz="2400" err="1"/>
              <a:t>Etiopie</a:t>
            </a:r>
            <a:r>
              <a:rPr lang="en-US" sz="2400" dirty="0"/>
              <a:t>), </a:t>
            </a:r>
            <a:r>
              <a:rPr lang="en-US" sz="2400" err="1"/>
              <a:t>Olduvajská</a:t>
            </a:r>
            <a:r>
              <a:rPr lang="en-US" sz="2400" dirty="0"/>
              <a:t> </a:t>
            </a:r>
            <a:r>
              <a:rPr lang="en-US" sz="2400" err="1"/>
              <a:t>rokle</a:t>
            </a:r>
            <a:r>
              <a:rPr lang="en-US" sz="2400" dirty="0"/>
              <a:t> (</a:t>
            </a:r>
            <a:r>
              <a:rPr lang="en-US" sz="2400" err="1"/>
              <a:t>Tanzánie</a:t>
            </a:r>
            <a:r>
              <a:rPr lang="en-US" sz="2400" dirty="0"/>
              <a:t>)</a:t>
            </a:r>
          </a:p>
          <a:p>
            <a:r>
              <a:rPr lang="en-US" sz="2400" dirty="0"/>
              <a:t>ČR: Stránská </a:t>
            </a:r>
            <a:r>
              <a:rPr lang="en-US" sz="2400" err="1"/>
              <a:t>skála</a:t>
            </a:r>
            <a:r>
              <a:rPr lang="en-US" sz="2400" dirty="0"/>
              <a:t> (u Brna), </a:t>
            </a:r>
            <a:r>
              <a:rPr lang="en-US" sz="2400" err="1"/>
              <a:t>Zlatý</a:t>
            </a:r>
            <a:r>
              <a:rPr lang="en-US" sz="2400" dirty="0"/>
              <a:t> </a:t>
            </a:r>
            <a:r>
              <a:rPr lang="en-US" sz="2400" err="1"/>
              <a:t>kopec</a:t>
            </a:r>
            <a:r>
              <a:rPr lang="en-US" sz="2400" dirty="0"/>
              <a:t> (u </a:t>
            </a:r>
            <a:r>
              <a:rPr lang="en-US" sz="2400" err="1"/>
              <a:t>Přesletic</a:t>
            </a:r>
            <a:r>
              <a:rPr lang="en-US" sz="2400" dirty="0"/>
              <a:t>)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C422894-0B9B-017F-CDF8-FDF64A8E1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8715" y="-269139"/>
            <a:ext cx="7234497" cy="740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771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853385-8A35-C819-0E77-FCC5D1E89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695" y="862264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6600" dirty="0" err="1"/>
              <a:t>Potrava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550D1-A26B-F2E2-77E9-0F4D8DE0C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695" y="2470244"/>
            <a:ext cx="4411777" cy="40405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 err="1">
                <a:ea typeface="+mn-lt"/>
                <a:cs typeface="+mn-lt"/>
              </a:rPr>
              <a:t>Všežravec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jeho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strava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zahrnovala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maso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tuky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rostlinné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složky</a:t>
            </a:r>
            <a:r>
              <a:rPr lang="en-US" sz="2400" dirty="0">
                <a:ea typeface="+mn-lt"/>
                <a:cs typeface="+mn-lt"/>
              </a:rPr>
              <a:t> (</a:t>
            </a:r>
            <a:r>
              <a:rPr lang="en-US" sz="2400" dirty="0" err="1">
                <a:ea typeface="+mn-lt"/>
                <a:cs typeface="+mn-lt"/>
              </a:rPr>
              <a:t>ovoce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kořeny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semena</a:t>
            </a:r>
            <a:r>
              <a:rPr lang="en-US" sz="2400" dirty="0">
                <a:ea typeface="+mn-lt"/>
                <a:cs typeface="+mn-lt"/>
              </a:rPr>
              <a:t>)</a:t>
            </a:r>
            <a:endParaRPr lang="en-US" sz="2400" dirty="0"/>
          </a:p>
          <a:p>
            <a:r>
              <a:rPr lang="en-US" sz="2400" err="1"/>
              <a:t>Používal</a:t>
            </a:r>
            <a:r>
              <a:rPr lang="en-US" sz="2400" dirty="0"/>
              <a:t> </a:t>
            </a:r>
            <a:r>
              <a:rPr lang="en-US" sz="2400" err="1"/>
              <a:t>oheň</a:t>
            </a:r>
            <a:r>
              <a:rPr lang="en-US" sz="2400" dirty="0"/>
              <a:t> </a:t>
            </a:r>
            <a:r>
              <a:rPr lang="en-US" sz="2400" err="1"/>
              <a:t>ke</a:t>
            </a:r>
            <a:r>
              <a:rPr lang="en-US" sz="2400" dirty="0"/>
              <a:t> </a:t>
            </a:r>
            <a:r>
              <a:rPr lang="en-US" sz="2400" err="1"/>
              <a:t>zpracování</a:t>
            </a:r>
            <a:r>
              <a:rPr lang="en-US" sz="2400" dirty="0"/>
              <a:t> </a:t>
            </a:r>
            <a:r>
              <a:rPr lang="en-US" sz="2400" err="1"/>
              <a:t>potravy</a:t>
            </a:r>
            <a:endParaRPr lang="en-US" sz="2400"/>
          </a:p>
          <a:p>
            <a:r>
              <a:rPr lang="en-US" sz="2400" err="1">
                <a:ea typeface="+mn-lt"/>
                <a:cs typeface="+mn-lt"/>
              </a:rPr>
              <a:t>Živočišná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složka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stravy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byla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důležitá</a:t>
            </a:r>
            <a:r>
              <a:rPr lang="en-US" sz="2400" dirty="0">
                <a:ea typeface="+mn-lt"/>
                <a:cs typeface="+mn-lt"/>
              </a:rPr>
              <a:t> pro </a:t>
            </a:r>
            <a:r>
              <a:rPr lang="en-US" sz="2400" err="1">
                <a:ea typeface="+mn-lt"/>
                <a:cs typeface="+mn-lt"/>
              </a:rPr>
              <a:t>vývoj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velkého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mozku</a:t>
            </a:r>
            <a:endParaRPr lang="en-US" sz="2400"/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A0A185-0237-6938-391C-ED35A602E3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47" r="11795" b="-1"/>
          <a:stretch>
            <a:fillRect/>
          </a:stretch>
        </p:blipFill>
        <p:spPr>
          <a:xfrm>
            <a:off x="6897901" y="-860"/>
            <a:ext cx="5294100" cy="6858860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pic>
        <p:nvPicPr>
          <p:cNvPr id="4" name="Obrázek 3">
            <a:extLst>
              <a:ext uri="{FF2B5EF4-FFF2-40B4-BE49-F238E27FC236}">
                <a16:creationId xmlns:a16="http://schemas.microsoft.com/office/drawing/2014/main" id="{DDB489C6-8EA2-01EA-F804-44BC1C9B62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892" y="-407600"/>
            <a:ext cx="5773435" cy="767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68294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celář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Širokoúhlá obrazovka</PresentationFormat>
  <Paragraphs>0</Paragraphs>
  <Slides>7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8" baseType="lpstr">
      <vt:lpstr>Motiv systému Office</vt:lpstr>
      <vt:lpstr>Homo erectus</vt:lpstr>
      <vt:lpstr>Obecné informace</vt:lpstr>
      <vt:lpstr>Mozek a lebka</vt:lpstr>
      <vt:lpstr>Další morfologické znaky</vt:lpstr>
      <vt:lpstr>Způsob života</vt:lpstr>
      <vt:lpstr>Naleziště kosterních pozůstatků</vt:lpstr>
      <vt:lpstr>Potrava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Homo erectus</dc:title>
  <dc:creator/>
  <cp:lastModifiedBy>Jonáš Velkoborský</cp:lastModifiedBy>
  <cp:revision>306</cp:revision>
  <dcterms:created xsi:type="dcterms:W3CDTF">2025-09-09T18:12:35Z</dcterms:created>
  <dcterms:modified xsi:type="dcterms:W3CDTF">2025-09-10T05:54:44Z</dcterms:modified>
</cp:coreProperties>
</file>